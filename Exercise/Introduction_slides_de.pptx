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5" r:id="rId2"/>
  </p:sldMasterIdLst>
  <p:notesMasterIdLst>
    <p:notesMasterId r:id="rId15"/>
  </p:notesMasterIdLst>
  <p:sldIdLst>
    <p:sldId id="256" r:id="rId3"/>
    <p:sldId id="257" r:id="rId4"/>
    <p:sldId id="258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71" r:id="rId14"/>
  </p:sldIdLst>
  <p:sldSz cx="9144000" cy="5143500" type="screen16x9"/>
  <p:notesSz cx="6858000" cy="9144000"/>
  <p:embeddedFontLst>
    <p:embeddedFont>
      <p:font typeface="Aptos Narrow" panose="020B0004020202020204" pitchFamily="34" charset="0"/>
      <p:regular r:id="rId16"/>
      <p:bold r:id="rId17"/>
      <p:italic r:id="rId18"/>
      <p:boldItalic r:id="rId19"/>
    </p:embeddedFont>
    <p:embeddedFont>
      <p:font typeface="Poppins" pitchFamily="2" charset="77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VmbUhwVPiXcRNHCwTQxp/z9Xn0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ona Perbix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82"/>
    <p:restoredTop sz="94613"/>
  </p:normalViewPr>
  <p:slideViewPr>
    <p:cSldViewPr snapToGrid="0">
      <p:cViewPr varScale="1">
        <p:scale>
          <a:sx n="120" d="100"/>
          <a:sy n="120" d="100"/>
        </p:scale>
        <p:origin x="176" y="8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135B5271-E472-E7D1-6068-54661F6D8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68DB9575-2F6A-4985-20B3-2CEA05E643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61682963-7A0E-4D0B-F4C5-AB2D885B60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8621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3039908E-811A-73F0-F1DD-EB40F260A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DAD7A69B-205B-293C-F18A-14E0B83EEE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976A9C9E-838F-A5CB-6EDA-D604F2F27D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948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2814EE01-D07C-EA9D-DB92-02FA913B8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C640FAE2-7644-0D9E-39B1-EA486A5554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FB640DF9-A710-4B75-135A-0C6C05ACB2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7154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E822B634-87C2-B5AF-E4CA-553C3E391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1A61EB62-6077-B10D-1EF8-9647DAF38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553B17B7-80AC-8364-A480-A7C0677799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5013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41E3444B-172C-6CB7-E131-2D38E16B1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F77C405D-85A6-B949-9991-D8E59CB203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AE83DB18-A9B9-4464-B9B0-3967DB091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2979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07D65A04-81F9-4949-228C-6BFAB5DB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2EE6FD9C-BD7B-5F79-A12F-4CA19299BC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A37704DF-857A-E794-B857-E45A4302CF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4755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B513716E-2C45-EC3C-D66F-147F124E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B7303A2B-A9A3-2337-27E9-391446FE9C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2887D3AF-376C-9B68-27F0-2BEC7CBF8F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95804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835179A2-1DFB-9FDB-6339-B8E180C5C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B9CBEB1B-9CA2-4A86-870B-18DF1CFB02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35E09299-9A5F-ECD3-A608-A7AB4E5A4C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67989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8" descr="/Volumes/Daten/Uni_Leipzig/1_Corporate_Design/17_351_UniLE_MF_Aktualisierung CD-Handbuch/Grafik/Produktion/Datenvorlagen/_UniLE_MF_Marke/MF_Marke/180504_Medizinische_Fakultaet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3094" y="19059"/>
            <a:ext cx="3401276" cy="154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8"/>
          <p:cNvSpPr txBox="1">
            <a:spLocks noGrp="1"/>
          </p:cNvSpPr>
          <p:nvPr>
            <p:ph type="ctrTitle"/>
          </p:nvPr>
        </p:nvSpPr>
        <p:spPr>
          <a:xfrm>
            <a:off x="295687" y="2078847"/>
            <a:ext cx="8092705" cy="1487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subTitle" idx="1"/>
          </p:nvPr>
        </p:nvSpPr>
        <p:spPr>
          <a:xfrm>
            <a:off x="295687" y="1606876"/>
            <a:ext cx="6400800" cy="471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8"/>
          <p:cNvSpPr>
            <a:spLocks noGrp="1"/>
          </p:cNvSpPr>
          <p:nvPr>
            <p:ph type="pic" idx="2"/>
          </p:nvPr>
        </p:nvSpPr>
        <p:spPr>
          <a:xfrm>
            <a:off x="295687" y="4439286"/>
            <a:ext cx="2098597" cy="517525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18"/>
          <p:cNvSpPr>
            <a:spLocks noGrp="1"/>
          </p:cNvSpPr>
          <p:nvPr>
            <p:ph type="pic" idx="3"/>
          </p:nvPr>
        </p:nvSpPr>
        <p:spPr>
          <a:xfrm>
            <a:off x="2453698" y="4444369"/>
            <a:ext cx="2184476" cy="51752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18"/>
          <p:cNvSpPr/>
          <p:nvPr/>
        </p:nvSpPr>
        <p:spPr>
          <a:xfrm rot="348924">
            <a:off x="8471146" y="-38043"/>
            <a:ext cx="956809" cy="5256635"/>
          </a:xfrm>
          <a:custGeom>
            <a:avLst/>
            <a:gdLst/>
            <a:ahLst/>
            <a:cxnLst/>
            <a:rect l="l" t="t" r="r" b="b"/>
            <a:pathLst>
              <a:path w="781424" h="5245637" extrusionOk="0">
                <a:moveTo>
                  <a:pt x="0" y="5245637"/>
                </a:moveTo>
                <a:lnTo>
                  <a:pt x="339503" y="0"/>
                </a:lnTo>
                <a:lnTo>
                  <a:pt x="781424" y="5149745"/>
                </a:lnTo>
                <a:lnTo>
                  <a:pt x="0" y="5245637"/>
                </a:lnTo>
                <a:close/>
              </a:path>
            </a:pathLst>
          </a:custGeom>
          <a:solidFill>
            <a:srgbClr val="008AC9"/>
          </a:solidFill>
          <a:ln w="9525" cap="flat" cmpd="sng">
            <a:solidFill>
              <a:srgbClr val="0087C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8"/>
          <p:cNvSpPr/>
          <p:nvPr/>
        </p:nvSpPr>
        <p:spPr>
          <a:xfrm rot="8241572" flipH="1">
            <a:off x="6280471" y="3669367"/>
            <a:ext cx="3546762" cy="2138528"/>
          </a:xfrm>
          <a:custGeom>
            <a:avLst/>
            <a:gdLst/>
            <a:ahLst/>
            <a:cxnLst/>
            <a:rect l="l" t="t" r="r" b="b"/>
            <a:pathLst>
              <a:path w="3546762" h="2138528" extrusionOk="0">
                <a:moveTo>
                  <a:pt x="0" y="2138528"/>
                </a:moveTo>
                <a:lnTo>
                  <a:pt x="2310704" y="0"/>
                </a:lnTo>
                <a:lnTo>
                  <a:pt x="3546762" y="1345944"/>
                </a:lnTo>
                <a:lnTo>
                  <a:pt x="0" y="2138528"/>
                </a:lnTo>
                <a:close/>
              </a:path>
            </a:pathLst>
          </a:custGeom>
          <a:solidFill>
            <a:srgbClr val="8AC2D1">
              <a:alpha val="49803"/>
            </a:srgbClr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elen Dank!">
  <p:cSld name="Vielen Dank!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093"/>
            <a:ext cx="3429000" cy="144237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3"/>
          <p:cNvSpPr txBox="1">
            <a:spLocks noGrp="1"/>
          </p:cNvSpPr>
          <p:nvPr>
            <p:ph type="ctrTitle"/>
          </p:nvPr>
        </p:nvSpPr>
        <p:spPr>
          <a:xfrm>
            <a:off x="365495" y="2078847"/>
            <a:ext cx="7984797" cy="562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365495" y="2834640"/>
            <a:ext cx="4672172" cy="1847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pic>
        <p:nvPicPr>
          <p:cNvPr id="24" name="Google Shape;24;p23" descr="/Volumes/Daten/Uni_Leipzig/1_Corporate_Design/17_351_UniLE_MF_Aktualisierung CD-Handbuch/Grafik/Produktion/Datenvorlagen/_UniLE_MF_Marke/MF_Marke/180504_Medizinische_Fakultaet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094" y="19059"/>
            <a:ext cx="3401276" cy="1547998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3"/>
          <p:cNvSpPr/>
          <p:nvPr/>
        </p:nvSpPr>
        <p:spPr>
          <a:xfrm rot="348924">
            <a:off x="8471146" y="-38043"/>
            <a:ext cx="956809" cy="5256635"/>
          </a:xfrm>
          <a:custGeom>
            <a:avLst/>
            <a:gdLst/>
            <a:ahLst/>
            <a:cxnLst/>
            <a:rect l="l" t="t" r="r" b="b"/>
            <a:pathLst>
              <a:path w="781424" h="5245637" extrusionOk="0">
                <a:moveTo>
                  <a:pt x="0" y="5245637"/>
                </a:moveTo>
                <a:lnTo>
                  <a:pt x="339503" y="0"/>
                </a:lnTo>
                <a:lnTo>
                  <a:pt x="781424" y="5149745"/>
                </a:lnTo>
                <a:lnTo>
                  <a:pt x="0" y="5245637"/>
                </a:lnTo>
                <a:close/>
              </a:path>
            </a:pathLst>
          </a:custGeom>
          <a:solidFill>
            <a:srgbClr val="008AC9"/>
          </a:solidFill>
          <a:ln w="9525" cap="flat" cmpd="sng">
            <a:solidFill>
              <a:srgbClr val="0087C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3"/>
          <p:cNvSpPr/>
          <p:nvPr/>
        </p:nvSpPr>
        <p:spPr>
          <a:xfrm rot="8241572" flipH="1">
            <a:off x="6280471" y="3669367"/>
            <a:ext cx="3546762" cy="2138528"/>
          </a:xfrm>
          <a:custGeom>
            <a:avLst/>
            <a:gdLst/>
            <a:ahLst/>
            <a:cxnLst/>
            <a:rect l="l" t="t" r="r" b="b"/>
            <a:pathLst>
              <a:path w="3546762" h="2138528" extrusionOk="0">
                <a:moveTo>
                  <a:pt x="0" y="2138528"/>
                </a:moveTo>
                <a:lnTo>
                  <a:pt x="2310704" y="0"/>
                </a:lnTo>
                <a:lnTo>
                  <a:pt x="3546762" y="1345944"/>
                </a:lnTo>
                <a:lnTo>
                  <a:pt x="0" y="2138528"/>
                </a:lnTo>
                <a:close/>
              </a:path>
            </a:pathLst>
          </a:custGeom>
          <a:solidFill>
            <a:srgbClr val="8AC2D1">
              <a:alpha val="49803"/>
            </a:srgbClr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folie rechts">
  <p:cSld name="Zwischenfolie rech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body" idx="1"/>
          </p:nvPr>
        </p:nvSpPr>
        <p:spPr>
          <a:xfrm>
            <a:off x="3501688" y="-5922"/>
            <a:ext cx="5654316" cy="5152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body" idx="2"/>
          </p:nvPr>
        </p:nvSpPr>
        <p:spPr>
          <a:xfrm>
            <a:off x="4429719" y="-4153"/>
            <a:ext cx="4711557" cy="5154092"/>
          </a:xfrm>
          <a:prstGeom prst="rect">
            <a:avLst/>
          </a:prstGeom>
          <a:solidFill>
            <a:srgbClr val="8AC2D1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rgbClr val="FF5451"/>
                </a:solidFill>
              </a:defRPr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body" idx="3"/>
          </p:nvPr>
        </p:nvSpPr>
        <p:spPr>
          <a:xfrm>
            <a:off x="5113728" y="1066801"/>
            <a:ext cx="3562911" cy="350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4"/>
          <p:cNvSpPr>
            <a:spLocks noGrp="1"/>
          </p:cNvSpPr>
          <p:nvPr>
            <p:ph type="pic" idx="4"/>
          </p:nvPr>
        </p:nvSpPr>
        <p:spPr>
          <a:xfrm>
            <a:off x="-1" y="0"/>
            <a:ext cx="6115051" cy="5149939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24"/>
          <p:cNvSpPr txBox="1">
            <a:spLocks noGrp="1"/>
          </p:cNvSpPr>
          <p:nvPr>
            <p:ph type="title"/>
          </p:nvPr>
        </p:nvSpPr>
        <p:spPr>
          <a:xfrm>
            <a:off x="5113728" y="1447164"/>
            <a:ext cx="3562911" cy="220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cap="none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folie links">
  <p:cSld name="Zwischenfolie link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>
            <a:spLocks noGrp="1"/>
          </p:cNvSpPr>
          <p:nvPr>
            <p:ph type="body" idx="1"/>
          </p:nvPr>
        </p:nvSpPr>
        <p:spPr>
          <a:xfrm flipH="1">
            <a:off x="-14439" y="-5922"/>
            <a:ext cx="5654316" cy="5152775"/>
          </a:xfrm>
          <a:prstGeom prst="rect">
            <a:avLst/>
          </a:prstGeom>
          <a:solidFill>
            <a:srgbClr val="008AC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2"/>
          </p:nvPr>
        </p:nvSpPr>
        <p:spPr>
          <a:xfrm flipH="1">
            <a:off x="-14439" y="-4153"/>
            <a:ext cx="4711557" cy="5154092"/>
          </a:xfrm>
          <a:prstGeom prst="rect">
            <a:avLst/>
          </a:prstGeom>
          <a:solidFill>
            <a:srgbClr val="8AC2D1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3"/>
          </p:nvPr>
        </p:nvSpPr>
        <p:spPr>
          <a:xfrm>
            <a:off x="471878" y="1066801"/>
            <a:ext cx="3562911" cy="350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5"/>
          <p:cNvSpPr>
            <a:spLocks noGrp="1"/>
          </p:cNvSpPr>
          <p:nvPr>
            <p:ph type="pic" idx="4"/>
          </p:nvPr>
        </p:nvSpPr>
        <p:spPr>
          <a:xfrm>
            <a:off x="2711450" y="0"/>
            <a:ext cx="6432551" cy="5149939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25"/>
          <p:cNvSpPr txBox="1">
            <a:spLocks noGrp="1"/>
          </p:cNvSpPr>
          <p:nvPr>
            <p:ph type="title"/>
          </p:nvPr>
        </p:nvSpPr>
        <p:spPr>
          <a:xfrm>
            <a:off x="471878" y="1447164"/>
            <a:ext cx="3562911" cy="220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cap="none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folie ohne Bild">
  <p:cSld name="Zwischenfolie ohne Bild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>
            <a:spLocks noGrp="1"/>
          </p:cNvSpPr>
          <p:nvPr>
            <p:ph type="ctrTitle"/>
          </p:nvPr>
        </p:nvSpPr>
        <p:spPr>
          <a:xfrm>
            <a:off x="257588" y="2078847"/>
            <a:ext cx="6400800" cy="1487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262A3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subTitle" idx="1"/>
          </p:nvPr>
        </p:nvSpPr>
        <p:spPr>
          <a:xfrm>
            <a:off x="257587" y="1740092"/>
            <a:ext cx="6400800" cy="338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rgbClr val="262A31"/>
              </a:buClr>
              <a:buSzPts val="1800"/>
              <a:buNone/>
              <a:defRPr sz="1800">
                <a:solidFill>
                  <a:srgbClr val="262A3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42" name="Google Shape;42;p26"/>
          <p:cNvCxnSpPr/>
          <p:nvPr/>
        </p:nvCxnSpPr>
        <p:spPr>
          <a:xfrm>
            <a:off x="457200" y="4713670"/>
            <a:ext cx="5731459" cy="0"/>
          </a:xfrm>
          <a:prstGeom prst="straightConnector1">
            <a:avLst/>
          </a:prstGeom>
          <a:noFill/>
          <a:ln w="9525" cap="flat" cmpd="sng">
            <a:solidFill>
              <a:srgbClr val="79B2D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3" name="Google Shape;43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" y="4769366"/>
            <a:ext cx="547323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6"/>
          <p:cNvSpPr txBox="1">
            <a:spLocks noGrp="1"/>
          </p:cNvSpPr>
          <p:nvPr>
            <p:ph type="body" idx="2"/>
          </p:nvPr>
        </p:nvSpPr>
        <p:spPr>
          <a:xfrm>
            <a:off x="5873903" y="7674"/>
            <a:ext cx="3368168" cy="5148188"/>
          </a:xfrm>
          <a:prstGeom prst="rect">
            <a:avLst/>
          </a:prstGeom>
          <a:solidFill>
            <a:srgbClr val="008AC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3"/>
          </p:nvPr>
        </p:nvSpPr>
        <p:spPr>
          <a:xfrm>
            <a:off x="6247991" y="1769"/>
            <a:ext cx="4711557" cy="5154092"/>
          </a:xfrm>
          <a:prstGeom prst="rect">
            <a:avLst/>
          </a:prstGeom>
          <a:solidFill>
            <a:srgbClr val="8AC2D1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rgbClr val="FF5451"/>
                </a:solidFill>
              </a:defRPr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 (formatfüllend)">
  <p:cSld name="Bild (formatfüllend)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>
            <a:spLocks noGrp="1"/>
          </p:cNvSpPr>
          <p:nvPr>
            <p:ph type="pic" idx="2"/>
          </p:nvPr>
        </p:nvSpPr>
        <p:spPr>
          <a:xfrm>
            <a:off x="8468" y="8468"/>
            <a:ext cx="9135532" cy="5135032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7"/>
          <p:cNvSpPr txBox="1">
            <a:spLocks noGrp="1"/>
          </p:cNvSpPr>
          <p:nvPr>
            <p:ph type="body" idx="1"/>
          </p:nvPr>
        </p:nvSpPr>
        <p:spPr>
          <a:xfrm>
            <a:off x="5873903" y="7674"/>
            <a:ext cx="3368168" cy="5148188"/>
          </a:xfrm>
          <a:prstGeom prst="rect">
            <a:avLst/>
          </a:prstGeom>
          <a:solidFill>
            <a:srgbClr val="008AC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body" idx="3"/>
          </p:nvPr>
        </p:nvSpPr>
        <p:spPr>
          <a:xfrm>
            <a:off x="6247991" y="1769"/>
            <a:ext cx="4711557" cy="5154092"/>
          </a:xfrm>
          <a:prstGeom prst="rect">
            <a:avLst/>
          </a:prstGeom>
          <a:solidFill>
            <a:srgbClr val="8AC2D1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rgbClr val="FF5451"/>
                </a:solidFill>
              </a:defRPr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 ohne Untertitel">
  <p:cSld name="Titel und Inhalt ohne Untertitel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body"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elle">
  <p:cSld name="Tabell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29"/>
          <p:cNvSpPr>
            <a:spLocks noGrp="1"/>
          </p:cNvSpPr>
          <p:nvPr>
            <p:ph type="tbl" idx="2"/>
          </p:nvPr>
        </p:nvSpPr>
        <p:spPr>
          <a:xfrm>
            <a:off x="457200" y="1597677"/>
            <a:ext cx="8234363" cy="269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body" idx="3"/>
          </p:nvPr>
        </p:nvSpPr>
        <p:spPr>
          <a:xfrm>
            <a:off x="457200" y="1141828"/>
            <a:ext cx="8229600" cy="361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Diagramm">
  <p:cSld name="1 Diagramm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body"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30"/>
          <p:cNvSpPr>
            <a:spLocks noGrp="1"/>
          </p:cNvSpPr>
          <p:nvPr>
            <p:ph type="chart" idx="2"/>
          </p:nvPr>
        </p:nvSpPr>
        <p:spPr>
          <a:xfrm>
            <a:off x="457200" y="1229028"/>
            <a:ext cx="8229600" cy="3061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86" name="Google Shape;86;p30"/>
          <p:cNvCxnSpPr/>
          <p:nvPr/>
        </p:nvCxnSpPr>
        <p:spPr>
          <a:xfrm>
            <a:off x="457200" y="471367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79B2D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30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Diagramme">
  <p:cSld name="2 Diagramm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1"/>
          <p:cNvSpPr txBox="1"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0" name="Google Shape;90;p31"/>
          <p:cNvSpPr txBox="1">
            <a:spLocks noGrp="1"/>
          </p:cNvSpPr>
          <p:nvPr>
            <p:ph type="body" idx="1"/>
          </p:nvPr>
        </p:nvSpPr>
        <p:spPr>
          <a:xfrm>
            <a:off x="457200" y="4368811"/>
            <a:ext cx="3962400" cy="33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31"/>
          <p:cNvSpPr>
            <a:spLocks noGrp="1"/>
          </p:cNvSpPr>
          <p:nvPr>
            <p:ph type="chart" idx="2"/>
          </p:nvPr>
        </p:nvSpPr>
        <p:spPr>
          <a:xfrm>
            <a:off x="457200" y="1181092"/>
            <a:ext cx="3962400" cy="3086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31"/>
          <p:cNvSpPr txBox="1">
            <a:spLocks noGrp="1"/>
          </p:cNvSpPr>
          <p:nvPr>
            <p:ph type="body" idx="3"/>
          </p:nvPr>
        </p:nvSpPr>
        <p:spPr>
          <a:xfrm>
            <a:off x="4714875" y="4368811"/>
            <a:ext cx="3962400" cy="33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31"/>
          <p:cNvSpPr>
            <a:spLocks noGrp="1"/>
          </p:cNvSpPr>
          <p:nvPr>
            <p:ph type="chart" idx="4"/>
          </p:nvPr>
        </p:nvSpPr>
        <p:spPr>
          <a:xfrm>
            <a:off x="4714875" y="1181092"/>
            <a:ext cx="3962400" cy="3086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31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 mit Text links">
  <p:cSld name="Bild mit Text link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2"/>
          <p:cNvSpPr txBox="1">
            <a:spLocks noGrp="1"/>
          </p:cNvSpPr>
          <p:nvPr>
            <p:ph type="title"/>
          </p:nvPr>
        </p:nvSpPr>
        <p:spPr>
          <a:xfrm>
            <a:off x="457200" y="372533"/>
            <a:ext cx="2692400" cy="99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7" name="Google Shape;97;p32"/>
          <p:cNvSpPr txBox="1">
            <a:spLocks noGrp="1"/>
          </p:cNvSpPr>
          <p:nvPr>
            <p:ph type="body" idx="1"/>
          </p:nvPr>
        </p:nvSpPr>
        <p:spPr>
          <a:xfrm>
            <a:off x="457200" y="1503680"/>
            <a:ext cx="2692400" cy="3195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spcBef>
                <a:spcPts val="280"/>
              </a:spcBef>
              <a:spcAft>
                <a:spcPts val="0"/>
              </a:spcAft>
              <a:buClr>
                <a:srgbClr val="D8413E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rgbClr val="D8413E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280"/>
              </a:spcBef>
              <a:spcAft>
                <a:spcPts val="0"/>
              </a:spcAft>
              <a:buClr>
                <a:srgbClr val="D8413E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32"/>
          <p:cNvSpPr>
            <a:spLocks noGrp="1"/>
          </p:cNvSpPr>
          <p:nvPr>
            <p:ph type="pic" idx="2"/>
          </p:nvPr>
        </p:nvSpPr>
        <p:spPr>
          <a:xfrm>
            <a:off x="3352800" y="762000"/>
            <a:ext cx="5791200" cy="3489344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32"/>
          <p:cNvSpPr txBox="1">
            <a:spLocks noGrp="1"/>
          </p:cNvSpPr>
          <p:nvPr>
            <p:ph type="body" idx="3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l" rtl="0"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32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457200" y="1063625"/>
            <a:ext cx="822960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4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19"/>
          <p:cNvCxnSpPr/>
          <p:nvPr/>
        </p:nvCxnSpPr>
        <p:spPr>
          <a:xfrm>
            <a:off x="0" y="155575"/>
            <a:ext cx="457200" cy="0"/>
          </a:xfrm>
          <a:prstGeom prst="straightConnector1">
            <a:avLst/>
          </a:prstGeom>
          <a:noFill/>
          <a:ln w="9525" cap="flat" cmpd="sng">
            <a:solidFill>
              <a:srgbClr val="262A3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2" name="Google Shape;52;p1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200" y="4769366"/>
            <a:ext cx="547323" cy="32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" name="Google Shape;53;p19"/>
          <p:cNvCxnSpPr/>
          <p:nvPr/>
        </p:nvCxnSpPr>
        <p:spPr>
          <a:xfrm>
            <a:off x="457200" y="471367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79B2D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19"/>
          <p:cNvSpPr txBox="1"/>
          <p:nvPr/>
        </p:nvSpPr>
        <p:spPr>
          <a:xfrm>
            <a:off x="1154545" y="4805187"/>
            <a:ext cx="67854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Institut für Medizinische Informatik, Statistik und Epidemiologie (IMISE)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9"/>
          <p:cNvSpPr txBox="1"/>
          <p:nvPr/>
        </p:nvSpPr>
        <p:spPr>
          <a:xfrm>
            <a:off x="457200" y="22671"/>
            <a:ext cx="700193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Annotation von Datenelementen</a:t>
            </a:r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60" r:id="rId2"/>
    <p:sldLayoutId id="2147483661" r:id="rId3"/>
    <p:sldLayoutId id="2147483662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imic.mit.edu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da.nfdi4health.de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ctrTitle"/>
          </p:nvPr>
        </p:nvSpPr>
        <p:spPr>
          <a:xfrm>
            <a:off x="295275" y="2079625"/>
            <a:ext cx="8093075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Annotation von Datenelementen mit der NFDI4Health </a:t>
            </a:r>
            <a:r>
              <a:rPr lang="de-DE" dirty="0" err="1"/>
              <a:t>Metadata</a:t>
            </a:r>
            <a:r>
              <a:rPr lang="de-DE" dirty="0"/>
              <a:t> Annotation </a:t>
            </a:r>
            <a:r>
              <a:rPr lang="de-DE" dirty="0" err="1"/>
              <a:t>Workbench</a:t>
            </a:r>
            <a:endParaRPr dirty="0"/>
          </a:p>
        </p:txBody>
      </p:sp>
      <p:sp>
        <p:nvSpPr>
          <p:cNvPr id="106" name="Google Shape;106;p1"/>
          <p:cNvSpPr txBox="1">
            <a:spLocks noGrp="1"/>
          </p:cNvSpPr>
          <p:nvPr>
            <p:ph type="subTitle" idx="1"/>
          </p:nvPr>
        </p:nvSpPr>
        <p:spPr>
          <a:xfrm>
            <a:off x="295274" y="1606550"/>
            <a:ext cx="8445313" cy="47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de-DE" dirty="0"/>
              <a:t>MI-Lab Übung 1: Metadaten für die Nachnutzung von Daten 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>
            <a:spLocks noGrp="1"/>
          </p:cNvSpPr>
          <p:nvPr>
            <p:ph type="body" idx="4294967295"/>
          </p:nvPr>
        </p:nvSpPr>
        <p:spPr>
          <a:xfrm>
            <a:off x="295275" y="3600450"/>
            <a:ext cx="3744913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latin typeface="Arial"/>
                <a:ea typeface="Arial"/>
                <a:cs typeface="Arial"/>
                <a:sym typeface="Arial"/>
              </a:rPr>
              <a:t>Leipzig, Datum</a:t>
            </a:r>
            <a:endParaRPr/>
          </a:p>
        </p:txBody>
      </p:sp>
      <p:pic>
        <p:nvPicPr>
          <p:cNvPr id="109" name="Google Shape;109;p1" descr="Ein Bild, das Text, Schrift, Logo, Grafiken enthält.&#10;&#10;Automatisch generierte Beschreibu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4943" b="4943"/>
          <a:stretch/>
        </p:blipFill>
        <p:spPr>
          <a:xfrm>
            <a:off x="295687" y="4439286"/>
            <a:ext cx="2098597" cy="51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ZIEL DER ÜBUNG</a:t>
            </a:r>
            <a:endParaRPr dirty="0"/>
          </a:p>
        </p:txBody>
      </p:sp>
      <p:sp>
        <p:nvSpPr>
          <p:cNvPr id="115" name="Google Shape;115;p2"/>
          <p:cNvSpPr txBox="1">
            <a:spLocks noGrp="1"/>
          </p:cNvSpPr>
          <p:nvPr>
            <p:ph type="body"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9875" lvl="0" indent="-269875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 sz="1600" b="0" i="0" u="none" strike="noStrike" dirty="0">
                <a:solidFill>
                  <a:schemeClr val="tx1"/>
                </a:solidFill>
                <a:effectLst/>
                <a:latin typeface="+mn-lt"/>
              </a:rPr>
              <a:t>Praktische Erfahrung in der </a:t>
            </a:r>
            <a:r>
              <a:rPr lang="de-DE" sz="16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Annotierung</a:t>
            </a:r>
            <a:r>
              <a:rPr lang="de-DE" sz="1600" b="0" i="0" u="none" strike="noStrike" dirty="0">
                <a:solidFill>
                  <a:schemeClr val="tx1"/>
                </a:solidFill>
                <a:effectLst/>
                <a:latin typeface="+mn-lt"/>
              </a:rPr>
              <a:t> von Datenelementen eines minimalen Datensatzes für ein medizinisches Forschungsvorhaben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None/>
            </a:pPr>
            <a:endParaRPr lang="de-DE" sz="1600" b="0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pPr marL="269875" lvl="0" indent="-269875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 sz="1600" dirty="0" err="1">
                <a:solidFill>
                  <a:schemeClr val="tx1"/>
                </a:solidFill>
                <a:latin typeface="+mn-lt"/>
              </a:rPr>
              <a:t>Annotierung</a:t>
            </a:r>
            <a:r>
              <a:rPr lang="de-DE" sz="1600" dirty="0">
                <a:solidFill>
                  <a:schemeClr val="tx1"/>
                </a:solidFill>
                <a:latin typeface="+mn-lt"/>
              </a:rPr>
              <a:t> = „Verschlagwortung“ mit einem oder ggf. mehreren Konzepten aus einer Terminologie mit einer Mapping-Relation (welche die Güte der Übereinstimmung angibt)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None/>
            </a:pPr>
            <a:endParaRPr lang="de-DE" sz="1600" dirty="0">
              <a:solidFill>
                <a:schemeClr val="tx1"/>
              </a:solidFill>
              <a:latin typeface="+mn-lt"/>
            </a:endParaRPr>
          </a:p>
          <a:p>
            <a:pPr marL="269875" lvl="0" indent="-269875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 sz="1600" b="0" i="0" u="none" strike="noStrike" dirty="0">
                <a:solidFill>
                  <a:schemeClr val="tx1"/>
                </a:solidFill>
                <a:effectLst/>
                <a:latin typeface="+mn-lt"/>
              </a:rPr>
              <a:t>Verwendung von Konzepten aus medizinischen Terminologien mit relevanter </a:t>
            </a:r>
            <a:r>
              <a:rPr lang="de-DE" sz="1600" dirty="0">
                <a:solidFill>
                  <a:schemeClr val="tx1"/>
                </a:solidFill>
                <a:latin typeface="+mn-lt"/>
              </a:rPr>
              <a:t>Verbreitung (LOINC, SNOMED CT, ATC)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None/>
            </a:pPr>
            <a:endParaRPr lang="de-DE" sz="1600" dirty="0">
              <a:solidFill>
                <a:schemeClr val="tx1"/>
              </a:solidFill>
              <a:latin typeface="+mn-lt"/>
            </a:endParaRPr>
          </a:p>
          <a:p>
            <a:pPr marL="269875" lvl="0" indent="-269875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 sz="1600" b="0" i="0" u="none" strike="noStrike" dirty="0">
                <a:solidFill>
                  <a:schemeClr val="tx1"/>
                </a:solidFill>
                <a:effectLst/>
                <a:latin typeface="+mn-lt"/>
              </a:rPr>
              <a:t>Kritische Bewertung und </a:t>
            </a:r>
            <a:r>
              <a:rPr lang="de-DE" sz="16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Dikussion</a:t>
            </a:r>
            <a:r>
              <a:rPr lang="de-DE" sz="1600" b="0" i="0" u="none" strike="noStrike" dirty="0">
                <a:solidFill>
                  <a:schemeClr val="tx1"/>
                </a:solidFill>
                <a:effectLst/>
                <a:latin typeface="+mn-lt"/>
              </a:rPr>
              <a:t> der Lösung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None/>
            </a:pPr>
            <a:endParaRPr lang="de-DE" sz="1600" b="0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pPr marL="269875" lvl="0" indent="-269875" algn="l" rtl="0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 sz="1600" dirty="0">
                <a:solidFill>
                  <a:schemeClr val="tx1"/>
                </a:solidFill>
                <a:latin typeface="+mn-lt"/>
              </a:rPr>
              <a:t>Lernziel: Kennenlernen des Prozesses, seiner Stärken und Schwächen </a:t>
            </a:r>
            <a:endParaRPr lang="de-DE" sz="1600" b="0" i="0" u="none" strike="noStrike" dirty="0">
              <a:solidFill>
                <a:schemeClr val="tx1"/>
              </a:solidFill>
              <a:effectLst/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Szenario: MIMIC (Medical Information Mart </a:t>
            </a:r>
            <a:r>
              <a:rPr lang="de-DE" dirty="0" err="1"/>
              <a:t>for</a:t>
            </a:r>
            <a:r>
              <a:rPr lang="de-DE" dirty="0"/>
              <a:t> Intensive Care) </a:t>
            </a:r>
            <a:endParaRPr dirty="0"/>
          </a:p>
        </p:txBody>
      </p:sp>
      <p:sp>
        <p:nvSpPr>
          <p:cNvPr id="121" name="Google Shape;121;p3"/>
          <p:cNvSpPr txBox="1">
            <a:spLocks noGrp="1"/>
          </p:cNvSpPr>
          <p:nvPr>
            <p:ph type="body"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de-DE" sz="1600" dirty="0"/>
              <a:t>Anonymisierte elektronische Krankenakten von Patienten, die in das Beth Israel </a:t>
            </a:r>
            <a:r>
              <a:rPr lang="de-DE" sz="1600" dirty="0" err="1"/>
              <a:t>Deaconess</a:t>
            </a:r>
            <a:r>
              <a:rPr lang="de-DE" sz="1600" dirty="0"/>
              <a:t> Medical Center aufgenommen wurden </a:t>
            </a:r>
          </a:p>
          <a:p>
            <a:pPr marL="114300" indent="0">
              <a:buNone/>
            </a:pPr>
            <a:endParaRPr lang="de-DE" sz="1600" dirty="0"/>
          </a:p>
          <a:p>
            <a:r>
              <a:rPr lang="de-DE" sz="1600" dirty="0"/>
              <a:t>Öffentlich zugängliche Demo von MIMIC-IV mit 100 Patienten </a:t>
            </a:r>
          </a:p>
          <a:p>
            <a:pPr marL="114300" indent="0">
              <a:buNone/>
            </a:pPr>
            <a:endParaRPr lang="de-DE" sz="1600" dirty="0"/>
          </a:p>
          <a:p>
            <a:r>
              <a:rPr lang="de-DE" sz="1600" dirty="0"/>
              <a:t>Online Dokumentation: </a:t>
            </a:r>
            <a:r>
              <a:rPr lang="de-DE" sz="16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https://mimic.mit.edu</a:t>
            </a:r>
            <a:endParaRPr lang="de-DE" sz="1600" dirty="0">
              <a:solidFill>
                <a:srgbClr val="0070C0"/>
              </a:solidFill>
            </a:endParaRPr>
          </a:p>
          <a:p>
            <a:pPr marL="114300" indent="0">
              <a:buNone/>
            </a:pP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dirty="0"/>
              <a:t>In der Übung wird eine komprimierte Version des Datensatzes annotiert </a:t>
            </a:r>
            <a:endParaRPr sz="1600" dirty="0"/>
          </a:p>
        </p:txBody>
      </p:sp>
      <p:sp>
        <p:nvSpPr>
          <p:cNvPr id="122" name="Google Shape;122;p3"/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838EEC14-EDC9-FD4B-5136-39C740F1B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D3CCB0B6-B247-ADC2-597F-FD9E8F6E5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Zu annotierende Datenelemente MIMIC-IV</a:t>
            </a:r>
            <a:endParaRPr dirty="0"/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B1B7F4FA-1E09-2EA8-4080-C164C5E7C5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2E7B21AD-5ABA-B8AE-D893-5AE4EA1ED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264250"/>
              </p:ext>
            </p:extLst>
          </p:nvPr>
        </p:nvGraphicFramePr>
        <p:xfrm>
          <a:off x="1435768" y="1063624"/>
          <a:ext cx="6272463" cy="3492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4527">
                  <a:extLst>
                    <a:ext uri="{9D8B030D-6E8A-4147-A177-3AD203B41FA5}">
                      <a16:colId xmlns:a16="http://schemas.microsoft.com/office/drawing/2014/main" val="379739660"/>
                    </a:ext>
                  </a:extLst>
                </a:gridCol>
                <a:gridCol w="1138989">
                  <a:extLst>
                    <a:ext uri="{9D8B030D-6E8A-4147-A177-3AD203B41FA5}">
                      <a16:colId xmlns:a16="http://schemas.microsoft.com/office/drawing/2014/main" val="1812851171"/>
                    </a:ext>
                  </a:extLst>
                </a:gridCol>
                <a:gridCol w="3408947">
                  <a:extLst>
                    <a:ext uri="{9D8B030D-6E8A-4147-A177-3AD203B41FA5}">
                      <a16:colId xmlns:a16="http://schemas.microsoft.com/office/drawing/2014/main" val="300085007"/>
                    </a:ext>
                  </a:extLst>
                </a:gridCol>
              </a:tblGrid>
              <a:tr h="202974"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Variablenname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Gruppe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Beschreibung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74272751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subject_id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Patient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Patientennummer im lokalen Krankenhaus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8551644"/>
                  </a:ext>
                </a:extLst>
              </a:tr>
              <a:tr h="255455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Patient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Alter bei Krankenhausaufnahme (abrunden auf Jahr)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988881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gender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Patient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53089717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admission_type</a:t>
                      </a:r>
                      <a:endParaRPr lang="de-DE" sz="10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(unklar)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4647366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insurance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Name der Krankenkasse bzw. des Versicherers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8281025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vorhofflimmern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Diagnosen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Vorhofflimmern, paroxysmal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17158668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hyperlipidaemie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Diagnosen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Hyperlipidämie, nicht näher bezeichnet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4482250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creatinine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Laborwerte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59957636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hematocrit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Laborwerte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76577058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infusion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Prozeduren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2068354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ventilation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Prozeduren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08947813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ibuprofen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Medikation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Ibuprofen 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13805149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fentanyl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Medikation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08635251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weight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Vitalwerte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kg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45559678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blood_pressure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Vitalwerte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mmHg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04104275"/>
                  </a:ext>
                </a:extLst>
              </a:tr>
              <a:tr h="139302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vital_status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Vitalwerte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12021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0900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B010CA8A-68E1-D893-47D3-415E69358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640F3D35-3632-1EBC-9588-10D10947DC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Wiederholung der nutzbaren Terminologien </a:t>
            </a:r>
            <a:endParaRPr dirty="0"/>
          </a:p>
        </p:txBody>
      </p:sp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B3317E19-73AD-565B-C1D1-312770F35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de-DE" sz="1600" dirty="0"/>
              <a:t>LOINC: </a:t>
            </a:r>
            <a:r>
              <a:rPr lang="en-US" sz="1600" noProof="0" dirty="0"/>
              <a:t>Logical Observation Identifiers Name and Codes</a:t>
            </a:r>
            <a:endParaRPr lang="de-DE" sz="1600" dirty="0"/>
          </a:p>
          <a:p>
            <a:pPr lvl="1"/>
            <a:r>
              <a:rPr lang="de-DE" dirty="0">
                <a:sym typeface="Wingdings" pitchFamily="2" charset="2"/>
              </a:rPr>
              <a:t> System zur Beschreibung von Laborwerten </a:t>
            </a:r>
          </a:p>
          <a:p>
            <a:pPr marL="584200" lvl="1" indent="0">
              <a:buNone/>
            </a:pPr>
            <a:endParaRPr lang="de-DE" dirty="0">
              <a:sym typeface="Wingdings" pitchFamily="2" charset="2"/>
            </a:endParaRPr>
          </a:p>
          <a:p>
            <a:r>
              <a:rPr lang="de-DE" sz="1600" dirty="0">
                <a:sym typeface="Wingdings" pitchFamily="2" charset="2"/>
              </a:rPr>
              <a:t>SNOMED CT: </a:t>
            </a:r>
            <a:r>
              <a:rPr lang="en-US" sz="1600" noProof="0" dirty="0">
                <a:sym typeface="Wingdings" pitchFamily="2" charset="2"/>
              </a:rPr>
              <a:t>Systemized Nomenclature of Medicine Clinical Terms </a:t>
            </a:r>
            <a:endParaRPr lang="de-DE" sz="1600" dirty="0">
              <a:sym typeface="Wingdings" pitchFamily="2" charset="2"/>
            </a:endParaRPr>
          </a:p>
          <a:p>
            <a:pPr lvl="1"/>
            <a:r>
              <a:rPr lang="de-DE" dirty="0">
                <a:sym typeface="Wingdings" pitchFamily="2" charset="2"/>
              </a:rPr>
              <a:t> Referenzterminologie mit einer sehr breiten Abdeckung der Medizin </a:t>
            </a:r>
          </a:p>
          <a:p>
            <a:pPr marL="584200" lvl="1" indent="0">
              <a:buNone/>
            </a:pPr>
            <a:endParaRPr lang="de-DE" dirty="0">
              <a:sym typeface="Wingdings" pitchFamily="2" charset="2"/>
            </a:endParaRPr>
          </a:p>
          <a:p>
            <a:r>
              <a:rPr lang="de-DE" sz="1600" dirty="0">
                <a:sym typeface="Wingdings" pitchFamily="2" charset="2"/>
              </a:rPr>
              <a:t>ATC: </a:t>
            </a:r>
            <a:r>
              <a:rPr lang="en-US" sz="1600" noProof="0" dirty="0">
                <a:sym typeface="Wingdings" pitchFamily="2" charset="2"/>
              </a:rPr>
              <a:t>Anatomical Therapeutical Chemical Codes</a:t>
            </a:r>
            <a:endParaRPr lang="de-DE" sz="1600" dirty="0">
              <a:sym typeface="Wingdings" pitchFamily="2" charset="2"/>
            </a:endParaRPr>
          </a:p>
          <a:p>
            <a:pPr lvl="1"/>
            <a:r>
              <a:rPr lang="de-DE" dirty="0">
                <a:sym typeface="Wingdings" pitchFamily="2" charset="2"/>
              </a:rPr>
              <a:t> klassifiziert pharmakologische Wirkstoffe </a:t>
            </a:r>
          </a:p>
          <a:p>
            <a:pPr marL="584200" lvl="1" indent="0">
              <a:buNone/>
            </a:pPr>
            <a:endParaRPr lang="de-DE" dirty="0">
              <a:sym typeface="Wingdings" pitchFamily="2" charset="2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D9B50E57-1399-35F5-BB85-EDB4D547A2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142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06B3A511-B399-6576-392D-C6B1FC480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DA49DDF7-C149-6F29-088D-EEE8BBCC57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NFDI4Health </a:t>
            </a:r>
            <a:r>
              <a:rPr lang="de-DE" dirty="0" err="1"/>
              <a:t>Metadata</a:t>
            </a:r>
            <a:r>
              <a:rPr lang="de-DE" dirty="0"/>
              <a:t> Annotation </a:t>
            </a:r>
            <a:r>
              <a:rPr lang="de-DE" dirty="0" err="1"/>
              <a:t>Workbench</a:t>
            </a:r>
            <a:r>
              <a:rPr lang="de-DE" dirty="0"/>
              <a:t> </a:t>
            </a:r>
            <a:endParaRPr dirty="0"/>
          </a:p>
        </p:txBody>
      </p:sp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71177475-4FD2-17A2-CB15-08D039750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de-DE" sz="1600" dirty="0"/>
              <a:t>Entwicklung von NFDI4Health</a:t>
            </a:r>
          </a:p>
          <a:p>
            <a:pPr marL="114300" indent="0">
              <a:buNone/>
            </a:pPr>
            <a:endParaRPr lang="de-DE" sz="1600" dirty="0">
              <a:sym typeface="Wingdings" pitchFamily="2" charset="2"/>
            </a:endParaRPr>
          </a:p>
          <a:p>
            <a:r>
              <a:rPr lang="de-DE" sz="1600" dirty="0">
                <a:sym typeface="Wingdings" pitchFamily="2" charset="2"/>
              </a:rPr>
              <a:t>Unterstützung bei der Annotation von Fragebögen, Data </a:t>
            </a:r>
            <a:r>
              <a:rPr lang="de-DE" sz="1600" dirty="0" err="1">
                <a:sym typeface="Wingdings" pitchFamily="2" charset="2"/>
              </a:rPr>
              <a:t>Dictionaries</a:t>
            </a:r>
            <a:r>
              <a:rPr lang="de-DE" sz="1600" dirty="0">
                <a:sym typeface="Wingdings" pitchFamily="2" charset="2"/>
              </a:rPr>
              <a:t> und Datenerfassungsinstrumenten, um semantische Interoperabilität zu fördern </a:t>
            </a:r>
          </a:p>
          <a:p>
            <a:pPr marL="114300" indent="0">
              <a:buNone/>
            </a:pPr>
            <a:endParaRPr lang="de-DE" sz="1600" dirty="0">
              <a:sym typeface="Wingdings" pitchFamily="2" charset="2"/>
            </a:endParaRPr>
          </a:p>
          <a:p>
            <a:r>
              <a:rPr lang="de-DE" sz="1600" dirty="0">
                <a:sym typeface="Wingdings" pitchFamily="2" charset="2"/>
              </a:rPr>
              <a:t>Integration von relevanten Terminologien und Ontologien </a:t>
            </a:r>
          </a:p>
          <a:p>
            <a:pPr marL="114300" indent="0">
              <a:buNone/>
            </a:pPr>
            <a:endParaRPr lang="de-DE" sz="1600" dirty="0">
              <a:sym typeface="Wingdings" pitchFamily="2" charset="2"/>
            </a:endParaRPr>
          </a:p>
          <a:p>
            <a:r>
              <a:rPr lang="de-DE" sz="1600" dirty="0">
                <a:sym typeface="Wingdings" pitchFamily="2" charset="2"/>
              </a:rPr>
              <a:t>Halbautomatische Annotationsunterstützung</a:t>
            </a:r>
          </a:p>
          <a:p>
            <a:endParaRPr lang="de-DE" sz="1600" dirty="0"/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5F3FA822-D81D-0D96-8A14-4EC62A3FB1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5201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C949CC6F-6D52-4363-62A9-00F16F1A1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98D5F7CA-BF09-5DD3-C893-CC2B5671E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Zugriff </a:t>
            </a:r>
            <a:endParaRPr dirty="0"/>
          </a:p>
        </p:txBody>
      </p:sp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817D8ADE-A06E-F57A-26FE-1610D022F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de-DE" sz="1600" dirty="0"/>
              <a:t>Webbasierte Applikation</a:t>
            </a:r>
          </a:p>
          <a:p>
            <a:pPr marL="114300" indent="0">
              <a:buNone/>
            </a:pPr>
            <a:endParaRPr lang="de-DE" sz="1600" dirty="0"/>
          </a:p>
          <a:p>
            <a:r>
              <a:rPr lang="de-DE" sz="1600" dirty="0">
                <a:sym typeface="Wingdings" pitchFamily="2" charset="2"/>
              </a:rPr>
              <a:t>URL:</a:t>
            </a:r>
            <a:r>
              <a:rPr lang="de-DE" sz="1600" dirty="0">
                <a:solidFill>
                  <a:srgbClr val="00B0F0"/>
                </a:solidFill>
                <a:sym typeface="Wingdings" pitchFamily="2" charset="2"/>
              </a:rPr>
              <a:t> </a:t>
            </a:r>
            <a:r>
              <a:rPr lang="de-DE" sz="1600" dirty="0">
                <a:solidFill>
                  <a:srgbClr val="00B0F0"/>
                </a:solidFill>
                <a:sym typeface="Wingdings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https://mda.nfdi4health.de</a:t>
            </a:r>
            <a:endParaRPr lang="de-DE" sz="1600" dirty="0">
              <a:solidFill>
                <a:srgbClr val="00B0F0"/>
              </a:solidFill>
              <a:sym typeface="Wingdings" pitchFamily="2" charset="2"/>
            </a:endParaRPr>
          </a:p>
          <a:p>
            <a:endParaRPr lang="de-DE" sz="1600" dirty="0">
              <a:sym typeface="Wingdings" pitchFamily="2" charset="2"/>
            </a:endParaRPr>
          </a:p>
          <a:p>
            <a:endParaRPr lang="de-DE" sz="1600" dirty="0"/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D4DFD22D-C6E7-28A9-53CA-6F5B8B5B4F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0392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B6C99C8A-F8F4-7DDD-4639-162D3C7E0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C1E3711B-4A3A-A9B3-80D8-B16DCE5804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Kurzanleitung </a:t>
            </a:r>
            <a:r>
              <a:rPr lang="de-DE" dirty="0" err="1"/>
              <a:t>Metadata</a:t>
            </a:r>
            <a:r>
              <a:rPr lang="de-DE" dirty="0"/>
              <a:t> Annotation </a:t>
            </a:r>
            <a:r>
              <a:rPr lang="de-DE" dirty="0" err="1"/>
              <a:t>Workbench</a:t>
            </a:r>
            <a:r>
              <a:rPr lang="de-DE" dirty="0"/>
              <a:t> </a:t>
            </a:r>
            <a:endParaRPr dirty="0"/>
          </a:p>
        </p:txBody>
      </p:sp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F4B76E4D-E161-939C-52F8-1187439365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de-DE" dirty="0">
              <a:sym typeface="Wingdings" pitchFamily="2" charset="2"/>
            </a:endParaRPr>
          </a:p>
          <a:p>
            <a:endParaRPr lang="de-DE" dirty="0"/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23CD02CD-FECA-7E70-17D9-45F967CA2D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rafik 2" descr="Ein Bild, das Text, Screenshot, Design enthält.&#10;&#10;Automatisch generierte Beschreibung">
            <a:extLst>
              <a:ext uri="{FF2B5EF4-FFF2-40B4-BE49-F238E27FC236}">
                <a16:creationId xmlns:a16="http://schemas.microsoft.com/office/drawing/2014/main" id="{1BD08885-190C-FBBC-E4D8-704313BFF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90" y="1063624"/>
            <a:ext cx="6430136" cy="363187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79F9256-6622-D7C9-04DE-E052A7670204}"/>
              </a:ext>
            </a:extLst>
          </p:cNvPr>
          <p:cNvSpPr/>
          <p:nvPr/>
        </p:nvSpPr>
        <p:spPr>
          <a:xfrm>
            <a:off x="3152274" y="2061411"/>
            <a:ext cx="2286000" cy="657726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772E762-7894-EFB2-CF97-5DB896A713E6}"/>
              </a:ext>
            </a:extLst>
          </p:cNvPr>
          <p:cNvSpPr txBox="1"/>
          <p:nvPr/>
        </p:nvSpPr>
        <p:spPr>
          <a:xfrm>
            <a:off x="5374106" y="2259469"/>
            <a:ext cx="19090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Projektnamen eingeben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D21D24-C472-ED22-0675-167EF4D4AC30}"/>
              </a:ext>
            </a:extLst>
          </p:cNvPr>
          <p:cNvSpPr/>
          <p:nvPr/>
        </p:nvSpPr>
        <p:spPr>
          <a:xfrm>
            <a:off x="4162927" y="2951041"/>
            <a:ext cx="1355558" cy="804073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41C6878-EDD5-CE87-2C73-B00912F1FC87}"/>
              </a:ext>
            </a:extLst>
          </p:cNvPr>
          <p:cNvSpPr txBox="1"/>
          <p:nvPr/>
        </p:nvSpPr>
        <p:spPr>
          <a:xfrm>
            <a:off x="5481128" y="3169470"/>
            <a:ext cx="19090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Excel-Datei hochladen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ABF50E-7374-AD31-0B69-3BA3E3DF48CE}"/>
              </a:ext>
            </a:extLst>
          </p:cNvPr>
          <p:cNvSpPr/>
          <p:nvPr/>
        </p:nvSpPr>
        <p:spPr>
          <a:xfrm>
            <a:off x="4387516" y="3818376"/>
            <a:ext cx="609599" cy="193212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92ED77F-761F-54D2-AD99-457D97BB57A6}"/>
              </a:ext>
            </a:extLst>
          </p:cNvPr>
          <p:cNvSpPr txBox="1"/>
          <p:nvPr/>
        </p:nvSpPr>
        <p:spPr>
          <a:xfrm>
            <a:off x="4997115" y="3806064"/>
            <a:ext cx="19090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Daten validieren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E40252A-4573-5B67-9CCD-435C34BBA0CF}"/>
              </a:ext>
            </a:extLst>
          </p:cNvPr>
          <p:cNvSpPr txBox="1"/>
          <p:nvPr/>
        </p:nvSpPr>
        <p:spPr>
          <a:xfrm>
            <a:off x="5224088" y="4272700"/>
            <a:ext cx="2166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Spalte auswählen („</a:t>
            </a:r>
            <a:r>
              <a:rPr lang="de-DE" sz="1100" dirty="0" err="1">
                <a:solidFill>
                  <a:srgbClr val="FF0000"/>
                </a:solidFill>
              </a:rPr>
              <a:t>attributes</a:t>
            </a:r>
            <a:r>
              <a:rPr lang="de-DE" sz="1100" dirty="0">
                <a:solidFill>
                  <a:srgbClr val="FF0000"/>
                </a:solidFill>
              </a:rPr>
              <a:t>“)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919FDB1-BE3C-92BB-7129-64D1A7BE1554}"/>
              </a:ext>
            </a:extLst>
          </p:cNvPr>
          <p:cNvSpPr/>
          <p:nvPr/>
        </p:nvSpPr>
        <p:spPr>
          <a:xfrm>
            <a:off x="4333751" y="4246473"/>
            <a:ext cx="890337" cy="294456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984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F2FED419-04A6-650A-9AD2-A70F2AD9E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D5467098-550B-4399-6BC1-1DCEBFEA9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Kurzanleitung </a:t>
            </a:r>
            <a:r>
              <a:rPr lang="de-DE" dirty="0" err="1"/>
              <a:t>Metadata</a:t>
            </a:r>
            <a:r>
              <a:rPr lang="de-DE" dirty="0"/>
              <a:t> Annotation </a:t>
            </a:r>
            <a:r>
              <a:rPr lang="de-DE" dirty="0" err="1"/>
              <a:t>Workbench</a:t>
            </a:r>
            <a:r>
              <a:rPr lang="de-DE" dirty="0"/>
              <a:t> </a:t>
            </a:r>
            <a:endParaRPr dirty="0"/>
          </a:p>
        </p:txBody>
      </p:sp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AE6FD372-C35B-4B58-BB8D-3F2920A85A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de-DE" dirty="0">
              <a:sym typeface="Wingdings" pitchFamily="2" charset="2"/>
            </a:endParaRPr>
          </a:p>
          <a:p>
            <a:endParaRPr lang="de-DE" dirty="0"/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499C8185-2B35-FFF7-F195-DA1B567203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rafik 3" descr="Ein Bild, das Text, Software, Webseite, Screenshot enthält.&#10;&#10;Automatisch generierte Beschreibung">
            <a:extLst>
              <a:ext uri="{FF2B5EF4-FFF2-40B4-BE49-F238E27FC236}">
                <a16:creationId xmlns:a16="http://schemas.microsoft.com/office/drawing/2014/main" id="{5D8AC958-8A77-AEB3-61CD-8607F4396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159" y="992783"/>
            <a:ext cx="6530589" cy="3685217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C36AB75-5B76-2457-2CA8-12E4BA4B359C}"/>
              </a:ext>
            </a:extLst>
          </p:cNvPr>
          <p:cNvSpPr txBox="1"/>
          <p:nvPr/>
        </p:nvSpPr>
        <p:spPr>
          <a:xfrm>
            <a:off x="3441032" y="3093658"/>
            <a:ext cx="37698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FF0000"/>
                </a:solidFill>
              </a:rPr>
              <a:t>SNOMED CT, LOINC und ATC suchen und auswählen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7A2638-30AB-D8D8-5B0F-974BA9023EE3}"/>
              </a:ext>
            </a:extLst>
          </p:cNvPr>
          <p:cNvSpPr/>
          <p:nvPr/>
        </p:nvSpPr>
        <p:spPr>
          <a:xfrm>
            <a:off x="903767" y="1584251"/>
            <a:ext cx="2296633" cy="531628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F5E6DF-A068-9397-B906-BA60442E38B7}"/>
              </a:ext>
            </a:extLst>
          </p:cNvPr>
          <p:cNvSpPr/>
          <p:nvPr/>
        </p:nvSpPr>
        <p:spPr>
          <a:xfrm>
            <a:off x="1244008" y="3920008"/>
            <a:ext cx="1403499" cy="272903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A31040DF-A6BE-D114-6536-3863330B9AD8}"/>
              </a:ext>
            </a:extLst>
          </p:cNvPr>
          <p:cNvCxnSpPr/>
          <p:nvPr/>
        </p:nvCxnSpPr>
        <p:spPr>
          <a:xfrm flipH="1">
            <a:off x="2806995" y="3355268"/>
            <a:ext cx="1201479" cy="6851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F7E1F15B-0DCD-DB09-8EEF-63C6118D46F3}"/>
              </a:ext>
            </a:extLst>
          </p:cNvPr>
          <p:cNvCxnSpPr/>
          <p:nvPr/>
        </p:nvCxnSpPr>
        <p:spPr>
          <a:xfrm flipH="1" flipV="1">
            <a:off x="3200400" y="1988288"/>
            <a:ext cx="808074" cy="10393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fik 23">
            <a:extLst>
              <a:ext uri="{FF2B5EF4-FFF2-40B4-BE49-F238E27FC236}">
                <a16:creationId xmlns:a16="http://schemas.microsoft.com/office/drawing/2014/main" id="{FB17DEA7-B668-41BE-C263-E6C15DD87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88" y="4030625"/>
            <a:ext cx="7772400" cy="670881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190CF7A5-0926-D060-55DA-5CA9CDD52023}"/>
              </a:ext>
            </a:extLst>
          </p:cNvPr>
          <p:cNvSpPr/>
          <p:nvPr/>
        </p:nvSpPr>
        <p:spPr>
          <a:xfrm>
            <a:off x="6539023" y="4192911"/>
            <a:ext cx="2052084" cy="508595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252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 animBg="1"/>
      <p:bldP spid="8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E679AA60-337D-4742-EE61-F0E8ADE04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6E012E16-4B9C-45F2-9A3E-D966063173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Kurzanleitung </a:t>
            </a:r>
            <a:r>
              <a:rPr lang="de-DE" dirty="0" err="1"/>
              <a:t>Metadata</a:t>
            </a:r>
            <a:r>
              <a:rPr lang="de-DE" dirty="0"/>
              <a:t> Annotation </a:t>
            </a:r>
            <a:r>
              <a:rPr lang="de-DE" dirty="0" err="1"/>
              <a:t>Workbench</a:t>
            </a:r>
            <a:r>
              <a:rPr lang="de-DE" dirty="0"/>
              <a:t> </a:t>
            </a:r>
            <a:endParaRPr dirty="0"/>
          </a:p>
        </p:txBody>
      </p:sp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21D12E71-796F-5938-FE1F-C71CADCAFF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de-DE" dirty="0">
              <a:sym typeface="Wingdings" pitchFamily="2" charset="2"/>
            </a:endParaRPr>
          </a:p>
          <a:p>
            <a:endParaRPr lang="de-DE" dirty="0"/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4C7D4F75-D338-6728-A57A-7A8F4B8511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rafik 8" descr="Ein Bild, das Text, Screenshot, Webseite, Website enthält.&#10;&#10;Automatisch generierte Beschreibung">
            <a:extLst>
              <a:ext uri="{FF2B5EF4-FFF2-40B4-BE49-F238E27FC236}">
                <a16:creationId xmlns:a16="http://schemas.microsoft.com/office/drawing/2014/main" id="{65F3C429-500B-936D-7A42-AF92D7C18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088" y="955957"/>
            <a:ext cx="6456438" cy="3646734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B7B1D4B-1A3F-E937-58EF-4EE2D29A08F9}"/>
              </a:ext>
            </a:extLst>
          </p:cNvPr>
          <p:cNvSpPr/>
          <p:nvPr/>
        </p:nvSpPr>
        <p:spPr>
          <a:xfrm>
            <a:off x="965088" y="3094074"/>
            <a:ext cx="2607452" cy="627321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18C3230-0BE3-3BC8-84ED-EC90B7B7FE42}"/>
              </a:ext>
            </a:extLst>
          </p:cNvPr>
          <p:cNvSpPr txBox="1"/>
          <p:nvPr/>
        </p:nvSpPr>
        <p:spPr>
          <a:xfrm>
            <a:off x="2555893" y="2672596"/>
            <a:ext cx="1792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Codes durchsuchen und auswählen</a:t>
            </a:r>
          </a:p>
        </p:txBody>
      </p:sp>
      <p:pic>
        <p:nvPicPr>
          <p:cNvPr id="13" name="Grafik 12" descr="Ein Bild, das Text, Screenshot enthält.&#10;&#10;Automatisch generierte Beschreibung">
            <a:extLst>
              <a:ext uri="{FF2B5EF4-FFF2-40B4-BE49-F238E27FC236}">
                <a16:creationId xmlns:a16="http://schemas.microsoft.com/office/drawing/2014/main" id="{D5EE6864-1325-ABC9-4920-6B93F14B1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00" y="620838"/>
            <a:ext cx="7262813" cy="4103515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639FDC73-A9D9-46FD-2408-517EDE8AB635}"/>
              </a:ext>
            </a:extLst>
          </p:cNvPr>
          <p:cNvSpPr/>
          <p:nvPr/>
        </p:nvSpPr>
        <p:spPr>
          <a:xfrm>
            <a:off x="499730" y="3353518"/>
            <a:ext cx="1222744" cy="428708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1101E5C-2A00-0140-335F-21FE5890F32F}"/>
              </a:ext>
            </a:extLst>
          </p:cNvPr>
          <p:cNvSpPr txBox="1"/>
          <p:nvPr/>
        </p:nvSpPr>
        <p:spPr>
          <a:xfrm>
            <a:off x="1765004" y="3567871"/>
            <a:ext cx="1807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Annotation hinzufügen</a:t>
            </a:r>
          </a:p>
        </p:txBody>
      </p:sp>
      <p:pic>
        <p:nvPicPr>
          <p:cNvPr id="17" name="Grafik 16" descr="Ein Bild, das Screenshot, Text, Webseite, Software enthält.&#10;&#10;Automatisch generierte Beschreibung">
            <a:extLst>
              <a:ext uri="{FF2B5EF4-FFF2-40B4-BE49-F238E27FC236}">
                <a16:creationId xmlns:a16="http://schemas.microsoft.com/office/drawing/2014/main" id="{164EEF7C-E630-3BFD-7534-4CCA91E9B9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512" y="304799"/>
            <a:ext cx="7772400" cy="4415640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C0921732-C5DD-6F97-7AFB-99013DE37D69}"/>
              </a:ext>
            </a:extLst>
          </p:cNvPr>
          <p:cNvSpPr/>
          <p:nvPr/>
        </p:nvSpPr>
        <p:spPr>
          <a:xfrm>
            <a:off x="4292712" y="1871330"/>
            <a:ext cx="3745502" cy="520996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BE4325C-19F3-E5E4-9484-AF5FE9211518}"/>
              </a:ext>
            </a:extLst>
          </p:cNvPr>
          <p:cNvSpPr/>
          <p:nvPr/>
        </p:nvSpPr>
        <p:spPr>
          <a:xfrm>
            <a:off x="401138" y="711799"/>
            <a:ext cx="1065731" cy="300954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3C1EF60-52CA-2378-5007-A55B0F0D94E3}"/>
              </a:ext>
            </a:extLst>
          </p:cNvPr>
          <p:cNvSpPr txBox="1"/>
          <p:nvPr/>
        </p:nvSpPr>
        <p:spPr>
          <a:xfrm>
            <a:off x="2979591" y="1127902"/>
            <a:ext cx="2626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Weitere Variablen annotieren</a:t>
            </a: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361F4E9B-24CD-F733-6464-80DA5CDE2D12}"/>
              </a:ext>
            </a:extLst>
          </p:cNvPr>
          <p:cNvCxnSpPr/>
          <p:nvPr/>
        </p:nvCxnSpPr>
        <p:spPr>
          <a:xfrm flipH="1" flipV="1">
            <a:off x="1541721" y="902044"/>
            <a:ext cx="1212112" cy="2634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4184A042-0855-D57F-7227-E9BE0F9CF48B}"/>
              </a:ext>
            </a:extLst>
          </p:cNvPr>
          <p:cNvCxnSpPr/>
          <p:nvPr/>
        </p:nvCxnSpPr>
        <p:spPr>
          <a:xfrm>
            <a:off x="3880884" y="1549882"/>
            <a:ext cx="411828" cy="4650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FAF7408F-2A7F-9C51-7E92-497819DC8176}"/>
              </a:ext>
            </a:extLst>
          </p:cNvPr>
          <p:cNvSpPr/>
          <p:nvPr/>
        </p:nvSpPr>
        <p:spPr>
          <a:xfrm>
            <a:off x="7235363" y="661044"/>
            <a:ext cx="884977" cy="391915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FBC298FF-0322-9AFE-BCB8-AE3D226DE92F}"/>
              </a:ext>
            </a:extLst>
          </p:cNvPr>
          <p:cNvSpPr txBox="1"/>
          <p:nvPr/>
        </p:nvSpPr>
        <p:spPr>
          <a:xfrm>
            <a:off x="6229259" y="356100"/>
            <a:ext cx="2838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Finale Annotation exportieren</a:t>
            </a:r>
          </a:p>
        </p:txBody>
      </p:sp>
    </p:spTree>
    <p:extLst>
      <p:ext uri="{BB962C8B-B14F-4D97-AF65-F5344CB8AC3E}">
        <p14:creationId xmlns:p14="http://schemas.microsoft.com/office/powerpoint/2010/main" val="331893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4" grpId="0" animBg="1"/>
      <p:bldP spid="15" grpId="0"/>
      <p:bldP spid="18" grpId="0" animBg="1"/>
      <p:bldP spid="19" grpId="0" animBg="1"/>
      <p:bldP spid="21" grpId="0"/>
      <p:bldP spid="27" grpId="0" animBg="1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0E976D91-2C57-A350-FB18-8F7971786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54BD12BF-97EC-14A7-078B-E0642A2DEB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Aufgabe </a:t>
            </a:r>
            <a:endParaRPr dirty="0"/>
          </a:p>
        </p:txBody>
      </p:sp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6CF79805-D6CF-87B9-C4C9-E82598BE6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de-DE" sz="1600" dirty="0"/>
              <a:t>Annotieren Sie die Konzepte aus dem MIMIC-Demo-Datensatz!</a:t>
            </a:r>
          </a:p>
          <a:p>
            <a:pPr marL="114300" indent="0">
              <a:buNone/>
            </a:pPr>
            <a:endParaRPr lang="de-DE" sz="1600" dirty="0"/>
          </a:p>
          <a:p>
            <a:r>
              <a:rPr lang="de-DE" sz="1600" dirty="0"/>
              <a:t>Notieren Sie kurz Ihre Beobachtungen für die anschließende Diskussion!</a:t>
            </a:r>
          </a:p>
          <a:p>
            <a:pPr marL="114300" indent="0">
              <a:buNone/>
            </a:pPr>
            <a:endParaRPr lang="de-DE" sz="1600" dirty="0"/>
          </a:p>
          <a:p>
            <a:pPr lvl="1"/>
            <a:r>
              <a:rPr lang="de-DE" sz="1400" dirty="0">
                <a:sym typeface="Wingdings" pitchFamily="2" charset="2"/>
              </a:rPr>
              <a:t>Es gibt keine Musterlösung: Es kann 0 bis </a:t>
            </a:r>
            <a:r>
              <a:rPr lang="de-DE" sz="1400" dirty="0" err="1">
                <a:sym typeface="Wingdings" pitchFamily="2" charset="2"/>
              </a:rPr>
              <a:t>n</a:t>
            </a:r>
            <a:r>
              <a:rPr lang="de-DE" sz="1400" dirty="0">
                <a:sym typeface="Wingdings" pitchFamily="2" charset="2"/>
              </a:rPr>
              <a:t> Treffer in jeder Terminologie geben.</a:t>
            </a:r>
          </a:p>
          <a:p>
            <a:pPr lvl="1"/>
            <a:r>
              <a:rPr lang="de-DE" sz="1400" dirty="0">
                <a:sym typeface="Wingdings" pitchFamily="2" charset="2"/>
              </a:rPr>
              <a:t>Falls es mehr als einen Treffer gibt, soll(en) der oder die „besten“ Treffer ausgewählt werden.</a:t>
            </a:r>
          </a:p>
          <a:p>
            <a:pPr lvl="1"/>
            <a:r>
              <a:rPr lang="de-DE" sz="14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Fehlerhafte Annotationen 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geschehen häufig bei Automatisierungen oder wenig Erfahrung mit der Terminologie. Bspw. wird „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 häufig als „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qualifier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 annotiert, weil es in der Liste zuerst kommt.</a:t>
            </a:r>
            <a:endParaRPr lang="de-DE" sz="1400" b="1" dirty="0">
              <a:solidFill>
                <a:srgbClr val="68963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de-DE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„</a:t>
            </a:r>
            <a:r>
              <a:rPr lang="de-DE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</a:t>
            </a:r>
            <a:r>
              <a:rPr lang="de-DE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 ist aber eher ein „observable </a:t>
            </a:r>
            <a:r>
              <a:rPr lang="de-DE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entity</a:t>
            </a:r>
            <a:r>
              <a:rPr lang="de-DE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“, wenn es das Alter eines Patienten meint</a:t>
            </a:r>
            <a:endParaRPr lang="de-DE" sz="1200" dirty="0">
              <a:solidFill>
                <a:srgbClr val="68963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de-DE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„</a:t>
            </a:r>
            <a:r>
              <a:rPr lang="de-DE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</a:t>
            </a:r>
            <a:r>
              <a:rPr lang="de-DE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 als „</a:t>
            </a:r>
            <a:r>
              <a:rPr lang="de-DE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qualifier</a:t>
            </a:r>
            <a:r>
              <a:rPr lang="de-DE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de-DE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 dient eher als Attribut bei Kompositionen wie auch „links“ oder „normal“</a:t>
            </a:r>
            <a:endParaRPr lang="de-DE" sz="1200" b="0" i="0" u="none" strike="noStrike" dirty="0">
              <a:solidFill>
                <a:srgbClr val="68963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de-DE" dirty="0">
              <a:sym typeface="Wingdings" pitchFamily="2" charset="2"/>
            </a:endParaRPr>
          </a:p>
          <a:p>
            <a:endParaRPr lang="de-DE" sz="1600" dirty="0">
              <a:sym typeface="Wingdings" pitchFamily="2" charset="2"/>
            </a:endParaRPr>
          </a:p>
          <a:p>
            <a:endParaRPr lang="de-DE" sz="1600" dirty="0"/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6156E864-CCCC-9345-58ED-D43993D2AE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8595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"/>
          <p:cNvSpPr txBox="1">
            <a:spLocks noGrp="1"/>
          </p:cNvSpPr>
          <p:nvPr>
            <p:ph type="ctrTitle"/>
          </p:nvPr>
        </p:nvSpPr>
        <p:spPr>
          <a:xfrm>
            <a:off x="365125" y="1584325"/>
            <a:ext cx="79851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VIELEN DANK!</a:t>
            </a:r>
            <a:endParaRPr/>
          </a:p>
        </p:txBody>
      </p:sp>
      <p:sp>
        <p:nvSpPr>
          <p:cNvPr id="239" name="Google Shape;239;p16"/>
          <p:cNvSpPr txBox="1">
            <a:spLocks noGrp="1"/>
          </p:cNvSpPr>
          <p:nvPr>
            <p:ph type="body" idx="1"/>
          </p:nvPr>
        </p:nvSpPr>
        <p:spPr>
          <a:xfrm>
            <a:off x="365125" y="2449513"/>
            <a:ext cx="6924675" cy="245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de-DE" sz="1600" b="1">
                <a:latin typeface="Arial"/>
                <a:ea typeface="Arial"/>
                <a:cs typeface="Arial"/>
                <a:sym typeface="Arial"/>
              </a:rPr>
              <a:t>Name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de-DE" sz="1600">
                <a:latin typeface="Arial"/>
                <a:ea typeface="Arial"/>
                <a:cs typeface="Arial"/>
                <a:sym typeface="Arial"/>
              </a:rPr>
              <a:t>Institut für Medizinische Informatik, Statistik und Epidemiologie (IMISE)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de-DE" sz="1600">
                <a:latin typeface="Arial"/>
                <a:ea typeface="Arial"/>
                <a:cs typeface="Arial"/>
                <a:sym typeface="Arial"/>
              </a:rPr>
              <a:t>Adresse einzeilig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de-DE" sz="1600">
                <a:latin typeface="Arial"/>
                <a:ea typeface="Arial"/>
                <a:cs typeface="Arial"/>
                <a:sym typeface="Arial"/>
              </a:rPr>
              <a:t>T +49 341 97-xxxxx   F +49 341 97-xxxxx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de-DE" sz="1600">
                <a:latin typeface="Arial"/>
                <a:ea typeface="Arial"/>
                <a:cs typeface="Arial"/>
                <a:sym typeface="Arial"/>
              </a:rPr>
              <a:t>xxx@imise.uni-leipzig.de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de-DE" sz="1600">
                <a:latin typeface="Arial"/>
                <a:ea typeface="Arial"/>
                <a:cs typeface="Arial"/>
                <a:sym typeface="Arial"/>
              </a:rPr>
              <a:t>www.imise.uni-leipzig.de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18-09-13-Vorlage 16 zu 9 - MF">
  <a:themeElements>
    <a:clrScheme name="mf">
      <a:dk1>
        <a:srgbClr val="000000"/>
      </a:dk1>
      <a:lt1>
        <a:srgbClr val="FFFFFF"/>
      </a:lt1>
      <a:dk2>
        <a:srgbClr val="262A31"/>
      </a:dk2>
      <a:lt2>
        <a:srgbClr val="E7E6E6"/>
      </a:lt2>
      <a:accent1>
        <a:srgbClr val="008AC9"/>
      </a:accent1>
      <a:accent2>
        <a:srgbClr val="00A7D6"/>
      </a:accent2>
      <a:accent3>
        <a:srgbClr val="FF5451"/>
      </a:accent3>
      <a:accent4>
        <a:srgbClr val="8AC2D1"/>
      </a:accent4>
      <a:accent5>
        <a:srgbClr val="262A31"/>
      </a:accent5>
      <a:accent6>
        <a:srgbClr val="FFFFFF"/>
      </a:accent6>
      <a:hlink>
        <a:srgbClr val="8AC2D1"/>
      </a:hlink>
      <a:folHlink>
        <a:srgbClr val="B02F2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ster2_UniLeipzig_PPT Vorlage">
  <a:themeElements>
    <a:clrScheme name="MF 2018">
      <a:dk1>
        <a:srgbClr val="000000"/>
      </a:dk1>
      <a:lt1>
        <a:srgbClr val="FFFFFF"/>
      </a:lt1>
      <a:dk2>
        <a:srgbClr val="262A31"/>
      </a:dk2>
      <a:lt2>
        <a:srgbClr val="FFFFFF"/>
      </a:lt2>
      <a:accent1>
        <a:srgbClr val="008AC9"/>
      </a:accent1>
      <a:accent2>
        <a:srgbClr val="00A7D6"/>
      </a:accent2>
      <a:accent3>
        <a:srgbClr val="8AC2D1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8A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</Words>
  <Application>Microsoft Macintosh PowerPoint</Application>
  <PresentationFormat>Bildschirmpräsentation (16:9)</PresentationFormat>
  <Paragraphs>128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12</vt:i4>
      </vt:variant>
    </vt:vector>
  </HeadingPairs>
  <TitlesOfParts>
    <vt:vector size="21" baseType="lpstr">
      <vt:lpstr>Arial</vt:lpstr>
      <vt:lpstr>Poppins</vt:lpstr>
      <vt:lpstr>Calibri</vt:lpstr>
      <vt:lpstr>Noto Sans Symbols</vt:lpstr>
      <vt:lpstr>Wingdings</vt:lpstr>
      <vt:lpstr>Helvetica Neue</vt:lpstr>
      <vt:lpstr>Aptos Narrow</vt:lpstr>
      <vt:lpstr>2018-09-13-Vorlage 16 zu 9 - MF</vt:lpstr>
      <vt:lpstr>Master2_UniLeipzig_PPT Vorlage</vt:lpstr>
      <vt:lpstr>Annotation von Datenelementen mit der NFDI4Health Metadata Annotation Workbench</vt:lpstr>
      <vt:lpstr>ZIEL DER ÜBUNG</vt:lpstr>
      <vt:lpstr>Szenario: MIMIC (Medical Information Mart for Intensive Care) </vt:lpstr>
      <vt:lpstr>Zu annotierende Datenelemente MIMIC-IV</vt:lpstr>
      <vt:lpstr>Wiederholung der nutzbaren Terminologien </vt:lpstr>
      <vt:lpstr>NFDI4Health Metadata Annotation Workbench </vt:lpstr>
      <vt:lpstr>Zugriff </vt:lpstr>
      <vt:lpstr>Kurzanleitung Metadata Annotation Workbench </vt:lpstr>
      <vt:lpstr>Kurzanleitung Metadata Annotation Workbench </vt:lpstr>
      <vt:lpstr>Kurzanleitung Metadata Annotation Workbench </vt:lpstr>
      <vt:lpstr>Aufgabe </vt:lpstr>
      <vt:lpstr>VIELEN DANK!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Doris Gabel</dc:creator>
  <cp:lastModifiedBy>Milla Milla</cp:lastModifiedBy>
  <cp:revision>2</cp:revision>
  <dcterms:created xsi:type="dcterms:W3CDTF">2018-09-28T08:09:47Z</dcterms:created>
  <dcterms:modified xsi:type="dcterms:W3CDTF">2024-12-10T15:20:50Z</dcterms:modified>
</cp:coreProperties>
</file>